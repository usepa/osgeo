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4746" autoAdjust="0"/>
  </p:normalViewPr>
  <p:slideViewPr>
    <p:cSldViewPr snapToGrid="0" snapToObjects="1">
      <p:cViewPr varScale="1">
        <p:scale>
          <a:sx n="28" d="100"/>
          <a:sy n="28" d="100"/>
        </p:scale>
        <p:origin x="1820" y="246"/>
      </p:cViewPr>
      <p:guideLst/>
    </p:cSldViewPr>
  </p:slideViewPr>
  <p:notesTextViewPr>
    <p:cViewPr>
      <p:scale>
        <a:sx n="1" d="1"/>
        <a:sy n="1" d="1"/>
      </p:scale>
      <p:origin x="0" y="-96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283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deck to Parquet and GeoParquet, with a focus on the 2026 developments: GeoParquet 2.0 / native Parquet geometry types, and Esri's June 2026 Parquet feature layer beta in ArcGIS Online.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Parquet is columnar: it stores data by column, not row. That enables compression, column pruning, and metadata-driven skipping (min/max, null counts). Very cloud-friendly — clients request only the byte ranges they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GeoParquet = Parquet + geospatial metadata + geometry types. CRS, extent, geometry type stored in metadata; geometry column historically WKB. Over 20 tools in 6 languages support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Reading only the columns you need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Far more efficient queries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compression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ability to skip huge parts of the dataset based on metadata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Optimizations (Hilbert ordering, ZSTD, bbox/statistics) yield 10-100x improvements in compression, I/O, and spatial query performance.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Analytical workflows have moved off Shapefile for ~3 years. Shapefile limits: 10-char fields, 254-char values, no true NULL, ~2GB.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Parquet 2.11 (March 2025) specified geospatial types &amp; statistics; the broader push through early 2026 made GEOMETRY/GEOGRAPHY first-class. Iceberg v3 adopted matching types. Bounding-box stats per row group enable spatial pruning.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GeoParquet 2.0 makes native Parquet GEOMETRY/GEOGRAPHY the foundation. Removes the GeoArrow native encoding and the bbox covering column from 1.1 (native stats replace it; files, esp. points, get smaller). Metadata remains as optional layer (e.g., guaranteed inline CRS). Guidance: stay on 1.1 in prod for now. v2.0.0 is an RC pending OGC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June 25, 2026 ArcGIS Online release: Parquet feature layers (Beta). Read-only, fast visualization + client-side querying, built on open GeoParquet. Created via ArcGIS Data Pipelines (no-code). Two optimizations: geographically adjacent storage and multi-scale generalized geometry. Additive metadata — still valid Parquet for other clients. Requires ArcGIS Maps SDK for JavaScript 5.1+.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Created only via ArcGIS Data Pipelines in this release; connects to S3, Azure, Snowflake, Databricks, BigQuery, URLs/APIs. Scheduled/on-demand overwrites. Best for large read-only reference data with big geometries. Beta limits: read-only, no offline, WGS84 only, no z/m, web-only (JS SDK 5.1+), not in Pro/Enterprise yet, no charts/analysis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Ecosystem: GDAL/OGR 3.12 reads/writes Parquet geo types; QGIS first-class; DuckDB SQL analytics; Iceberg v3 native types, Delta likely to follow; GeoPandas/PyArrow in Python; geoparquet-io (gpio), a 2026 CLI/Python tool for convert/validate/optimize (Hilbert ordering, ZSTD, bbox, spatial indices).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framing: GeoParquet for analytics/cloud; GeoPackage for editing/cartography (row model + SQL indexing); Shapefile only for legacy consumers. Not a pure "stop using shapefiles" story — each fits different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work with massive datasets directly from the cloud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enables interoperability across GIS and data engineering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GeoParquet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works seamlessly with:</a:t>
            </a: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Geopandas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GDAL</a:t>
            </a: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DuckDB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Apache Sedona</a:t>
            </a: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BigQuery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Snowflake</a:t>
            </a: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PyArrow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unlocks true cloud-native spatial data lakes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becoming the default format for vector data at scale</a:t>
            </a:r>
          </a:p>
          <a:p>
            <a:endParaRPr lang="en-US"/>
          </a:p>
          <a:p>
            <a:r>
              <a:rPr lang="en-US" dirty="0"/>
              <a:t>Recap: columnar foundation, native geo types in Parquet/Iceberg + GeoParquet 2.0, Esri Parquet feature layers beta, converging interoperable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777240" y="20574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Parquet &amp; GeoParquet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columnar foundation for modern geospatial data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185623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470916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GeoParquet 2.0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35224" y="470916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935224" y="47091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Parquet types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78424" y="470916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678424" y="47091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Online (Beta)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Apache Parquet?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</a:t>
            </a:r>
            <a:r>
              <a:rPr lang="en-US" sz="16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</a:t>
            </a:r>
            <a:r>
              <a:rPr lang="en-US" sz="16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 format built for efficient storage and analytics of large tabular datasets. Instead of storing data row by row, Parquet organizes it by column.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566928" cy="566928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_compress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33364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31821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34930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compression shrinks files and speeds reads.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4041648"/>
            <a:ext cx="566928" cy="566928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_filte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4177711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4023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pruning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43342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 the columns a query needs — skip the rest.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882896"/>
            <a:ext cx="566928" cy="566928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ic_databas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5018959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48646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Row-group stats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517550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 &amp; null counts let engines skip whole chunks.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5724144"/>
            <a:ext cx="566928" cy="566928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ic_cloud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143" y="5860207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71600" y="57058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Cloud-friendly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371600" y="60167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fetch only the byte ranges they need over HTTP.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309360" y="1783080"/>
            <a:ext cx="521208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6629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Row-based vs. columnar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62940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STORAGE — must scan whole rows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629400" y="2816352"/>
            <a:ext cx="1481328" cy="310896"/>
          </a:xfrm>
          <a:prstGeom prst="rect">
            <a:avLst/>
          </a:prstGeom>
          <a:solidFill>
            <a:srgbClr val="D5E1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110728" y="2816352"/>
            <a:ext cx="1481328" cy="310896"/>
          </a:xfrm>
          <a:prstGeom prst="rect">
            <a:avLst/>
          </a:prstGeom>
          <a:solidFill>
            <a:srgbClr val="D5E1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9592056" y="2816352"/>
            <a:ext cx="1481328" cy="310896"/>
          </a:xfrm>
          <a:prstGeom prst="rect">
            <a:avLst/>
          </a:prstGeom>
          <a:solidFill>
            <a:srgbClr val="D5E1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6629400" y="3127248"/>
            <a:ext cx="1481328" cy="310896"/>
          </a:xfrm>
          <a:prstGeom prst="rect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8110728" y="3127248"/>
            <a:ext cx="1481328" cy="310896"/>
          </a:xfrm>
          <a:prstGeom prst="rect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9592056" y="3127248"/>
            <a:ext cx="1481328" cy="310896"/>
          </a:xfrm>
          <a:prstGeom prst="rect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629400" y="3438144"/>
            <a:ext cx="1481328" cy="310896"/>
          </a:xfrm>
          <a:prstGeom prst="rect">
            <a:avLst/>
          </a:prstGeom>
          <a:solidFill>
            <a:srgbClr val="D5E1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8110728" y="3438144"/>
            <a:ext cx="1481328" cy="310896"/>
          </a:xfrm>
          <a:prstGeom prst="rect">
            <a:avLst/>
          </a:prstGeom>
          <a:solidFill>
            <a:srgbClr val="D5E1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9592056" y="3438144"/>
            <a:ext cx="1481328" cy="310896"/>
          </a:xfrm>
          <a:prstGeom prst="rect">
            <a:avLst/>
          </a:prstGeom>
          <a:solidFill>
            <a:srgbClr val="D5E1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662940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— reads only the column needed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629400" y="4462272"/>
            <a:ext cx="1481328" cy="310896"/>
          </a:xfrm>
          <a:prstGeom prst="rect">
            <a:avLst/>
          </a:prstGeom>
          <a:solidFill>
            <a:srgbClr val="D5E1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6629400" y="4773168"/>
            <a:ext cx="1481328" cy="310896"/>
          </a:xfrm>
          <a:prstGeom prst="rect">
            <a:avLst/>
          </a:prstGeom>
          <a:solidFill>
            <a:srgbClr val="D5E1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6629400" y="5084064"/>
            <a:ext cx="1481328" cy="310896"/>
          </a:xfrm>
          <a:prstGeom prst="rect">
            <a:avLst/>
          </a:prstGeom>
          <a:solidFill>
            <a:srgbClr val="D5E1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8110728" y="4462272"/>
            <a:ext cx="1481328" cy="310896"/>
          </a:xfrm>
          <a:prstGeom prst="rect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8110728" y="4773168"/>
            <a:ext cx="1481328" cy="310896"/>
          </a:xfrm>
          <a:prstGeom prst="rect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8110728" y="5084064"/>
            <a:ext cx="1481328" cy="310896"/>
          </a:xfrm>
          <a:prstGeom prst="rect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9592056" y="4462272"/>
            <a:ext cx="1481328" cy="310896"/>
          </a:xfrm>
          <a:prstGeom prst="rect">
            <a:avLst/>
          </a:prstGeom>
          <a:solidFill>
            <a:srgbClr val="D5E1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9592056" y="4773168"/>
            <a:ext cx="1481328" cy="310896"/>
          </a:xfrm>
          <a:prstGeom prst="rect">
            <a:avLst/>
          </a:prstGeom>
          <a:solidFill>
            <a:srgbClr val="D5E1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9592056" y="5084064"/>
            <a:ext cx="1481328" cy="310896"/>
          </a:xfrm>
          <a:prstGeom prst="rect">
            <a:avLst/>
          </a:prstGeom>
          <a:solidFill>
            <a:srgbClr val="D5E1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 txBox="1"/>
          <p:nvPr/>
        </p:nvSpPr>
        <p:spPr>
          <a:xfrm>
            <a:off x="6629400" y="55321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"records in OR": columnar reads just the “state” column, then fetches matching rows.</a:t>
            </a:r>
            <a:endParaRPr lang="en-US" sz="1150" dirty="0"/>
          </a:p>
        </p:txBody>
      </p:sp>
      <p:sp>
        <p:nvSpPr>
          <p:cNvPr id="44" name="Text 38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SPATIAL DIMENSION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GeoParquet?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GeoParquet builds on Parquet by adding the geospatial pieces Parquet alone didn't define — so the same fast, columnar files can hold points, lines, and polygons.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350215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3108960"/>
            <a:ext cx="777240" cy="777240"/>
          </a:xfrm>
          <a:prstGeom prst="ellipse">
            <a:avLst/>
          </a:prstGeom>
          <a:solidFill>
            <a:srgbClr val="11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_globe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8" y="329549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40416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column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4805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geometry stored in a dedicated column, historically encoded as WKB (Well-Known Binary).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788920"/>
            <a:ext cx="350215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3108960"/>
            <a:ext cx="777240" cy="777240"/>
          </a:xfrm>
          <a:prstGeom prst="ellipse">
            <a:avLst/>
          </a:prstGeom>
          <a:solidFill>
            <a:srgbClr val="11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_map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978" y="329549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40416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metadata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44805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reference system, spatial extent (bbox), and geometry type travel with the file.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2788920"/>
            <a:ext cx="350215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66760" y="3108960"/>
            <a:ext cx="777240" cy="777240"/>
          </a:xfrm>
          <a:prstGeom prst="ellipse">
            <a:avLst/>
          </a:prstGeom>
          <a:solidFill>
            <a:srgbClr val="11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ic_layers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3298" y="329549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40416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GIS-ready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44805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+ geometry let tools map the data and run spatial workflows directly.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20 tools across 6 languages already support GeoParquet — the goal is to make geospatial data "boringly interoperable."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51B94643-F2AF-0E7F-E40A-84B2AB097283}"/>
              </a:ext>
            </a:extLst>
          </p:cNvPr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GEOPARQUET</a:t>
            </a:r>
            <a:endParaRPr lang="en-US" sz="1300" dirty="0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3CAF9FD6-B537-0F9B-825E-D68CB97411E4}"/>
              </a:ext>
            </a:extLst>
          </p:cNvPr>
          <p:cNvSpPr txBox="1"/>
          <p:nvPr/>
        </p:nvSpPr>
        <p:spPr>
          <a:xfrm>
            <a:off x="640080" y="80467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</a:t>
            </a:r>
            <a:r>
              <a:rPr lang="en-US" sz="3400" b="1" dirty="0" err="1">
                <a:solidFill>
                  <a:srgbClr val="1329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GeoParquet</a:t>
            </a:r>
            <a:endParaRPr lang="en-US" sz="34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721B3BC6-E87C-CA56-9CF0-FC6C0D4749FD}"/>
              </a:ext>
            </a:extLst>
          </p:cNvPr>
          <p:cNvSpPr/>
          <p:nvPr/>
        </p:nvSpPr>
        <p:spPr>
          <a:xfrm>
            <a:off x="640080" y="1737360"/>
            <a:ext cx="350215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AE2A338F-BA91-C2C6-7180-A1B0018F1132}"/>
              </a:ext>
            </a:extLst>
          </p:cNvPr>
          <p:cNvSpPr/>
          <p:nvPr/>
        </p:nvSpPr>
        <p:spPr>
          <a:xfrm>
            <a:off x="960120" y="1965960"/>
            <a:ext cx="82296" cy="9875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6EDDED40-12D0-8368-1451-00B2715A07E7}"/>
              </a:ext>
            </a:extLst>
          </p:cNvPr>
          <p:cNvSpPr txBox="1"/>
          <p:nvPr/>
        </p:nvSpPr>
        <p:spPr>
          <a:xfrm>
            <a:off x="1188720" y="19385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10–100×</a:t>
            </a:r>
            <a:endParaRPr lang="en-US" sz="2900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67184D78-CC59-D5DA-14A6-4B8687999710}"/>
              </a:ext>
            </a:extLst>
          </p:cNvPr>
          <p:cNvSpPr txBox="1"/>
          <p:nvPr/>
        </p:nvSpPr>
        <p:spPr>
          <a:xfrm>
            <a:off x="1207008" y="252374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queries, I/O &amp; compression with optimized layouts</a:t>
            </a:r>
            <a:endParaRPr lang="en-US" sz="1150" dirty="0"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1FD8DF3B-7DE2-A695-09AE-FCE1E8D36ED8}"/>
              </a:ext>
            </a:extLst>
          </p:cNvPr>
          <p:cNvSpPr/>
          <p:nvPr/>
        </p:nvSpPr>
        <p:spPr>
          <a:xfrm>
            <a:off x="4343400" y="1737360"/>
            <a:ext cx="350215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6C307748-8A56-4179-D9DC-3882D2A17BFE}"/>
              </a:ext>
            </a:extLst>
          </p:cNvPr>
          <p:cNvSpPr/>
          <p:nvPr/>
        </p:nvSpPr>
        <p:spPr>
          <a:xfrm>
            <a:off x="4663440" y="1965960"/>
            <a:ext cx="82296" cy="9875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64C4F33F-EEB0-A90E-B004-F421853F8CA8}"/>
              </a:ext>
            </a:extLst>
          </p:cNvPr>
          <p:cNvSpPr txBox="1"/>
          <p:nvPr/>
        </p:nvSpPr>
        <p:spPr>
          <a:xfrm>
            <a:off x="4892040" y="19385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65A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20+ tools</a:t>
            </a:r>
            <a:endParaRPr lang="en-US" sz="2900" dirty="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31A9CED8-4591-DC31-A73B-F1EE5661CB93}"/>
              </a:ext>
            </a:extLst>
          </p:cNvPr>
          <p:cNvSpPr txBox="1"/>
          <p:nvPr/>
        </p:nvSpPr>
        <p:spPr>
          <a:xfrm>
            <a:off x="4910328" y="252374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write GeoParquet across 6 languages</a:t>
            </a:r>
            <a:endParaRPr lang="en-US" sz="1150" dirty="0"/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A68F860E-8C04-2254-08F7-E2DAB4077458}"/>
              </a:ext>
            </a:extLst>
          </p:cNvPr>
          <p:cNvSpPr/>
          <p:nvPr/>
        </p:nvSpPr>
        <p:spPr>
          <a:xfrm>
            <a:off x="8046720" y="1737360"/>
            <a:ext cx="350215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C048EE4B-2A36-8343-654C-51515EA80562}"/>
              </a:ext>
            </a:extLst>
          </p:cNvPr>
          <p:cNvSpPr/>
          <p:nvPr/>
        </p:nvSpPr>
        <p:spPr>
          <a:xfrm>
            <a:off x="8366760" y="1965960"/>
            <a:ext cx="82296" cy="9875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C46B7C0A-195B-0BD3-4102-7E6E7068026A}"/>
              </a:ext>
            </a:extLst>
          </p:cNvPr>
          <p:cNvSpPr txBox="1"/>
          <p:nvPr/>
        </p:nvSpPr>
        <p:spPr>
          <a:xfrm>
            <a:off x="8595360" y="19385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C72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 format</a:t>
            </a:r>
            <a:endParaRPr lang="en-US" sz="2900" dirty="0"/>
          </a:p>
        </p:txBody>
      </p:sp>
      <p:sp>
        <p:nvSpPr>
          <p:cNvPr id="54" name="Text 13">
            <a:extLst>
              <a:ext uri="{FF2B5EF4-FFF2-40B4-BE49-F238E27FC236}">
                <a16:creationId xmlns:a16="http://schemas.microsoft.com/office/drawing/2014/main" id="{60E8AC68-6905-67C8-2B9C-171B26385964}"/>
              </a:ext>
            </a:extLst>
          </p:cNvPr>
          <p:cNvSpPr txBox="1"/>
          <p:nvPr/>
        </p:nvSpPr>
        <p:spPr>
          <a:xfrm>
            <a:off x="8613648" y="252374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GIS, analytics &amp; lakehouse ecosystems</a:t>
            </a:r>
            <a:endParaRPr lang="en-US" sz="1150" dirty="0"/>
          </a:p>
        </p:txBody>
      </p:sp>
      <p:sp>
        <p:nvSpPr>
          <p:cNvPr id="56" name="Text 14">
            <a:extLst>
              <a:ext uri="{FF2B5EF4-FFF2-40B4-BE49-F238E27FC236}">
                <a16:creationId xmlns:a16="http://schemas.microsoft.com/office/drawing/2014/main" id="{BA0BAF57-B9EC-7F13-3C63-ADE41BE895EA}"/>
              </a:ext>
            </a:extLst>
          </p:cNvPr>
          <p:cNvSpPr txBox="1"/>
          <p:nvPr/>
        </p:nvSpPr>
        <p:spPr>
          <a:xfrm>
            <a:off x="640080" y="33649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it apart from traditional spatial formats</a:t>
            </a:r>
            <a:endParaRPr lang="en-US" sz="1600" dirty="0"/>
          </a:p>
        </p:txBody>
      </p:sp>
      <p:sp>
        <p:nvSpPr>
          <p:cNvPr id="58" name="Shape 15">
            <a:extLst>
              <a:ext uri="{FF2B5EF4-FFF2-40B4-BE49-F238E27FC236}">
                <a16:creationId xmlns:a16="http://schemas.microsoft.com/office/drawing/2014/main" id="{8186966E-F19E-4237-9E47-FA151FFC7529}"/>
              </a:ext>
            </a:extLst>
          </p:cNvPr>
          <p:cNvSpPr/>
          <p:nvPr/>
        </p:nvSpPr>
        <p:spPr>
          <a:xfrm>
            <a:off x="640080" y="3840480"/>
            <a:ext cx="53492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8120A185-C2A9-B611-35F0-30651F3D7BBF}"/>
              </a:ext>
            </a:extLst>
          </p:cNvPr>
          <p:cNvSpPr/>
          <p:nvPr/>
        </p:nvSpPr>
        <p:spPr>
          <a:xfrm>
            <a:off x="896112" y="4114800"/>
            <a:ext cx="566928" cy="566928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2" name="Image 0" descr="ic_filter_blue.png">
            <a:extLst>
              <a:ext uri="{FF2B5EF4-FFF2-40B4-BE49-F238E27FC236}">
                <a16:creationId xmlns:a16="http://schemas.microsoft.com/office/drawing/2014/main" id="{0F1902ED-170B-7247-2CFD-07BB11476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75" y="4250863"/>
            <a:ext cx="294803" cy="294803"/>
          </a:xfrm>
          <a:prstGeom prst="rect">
            <a:avLst/>
          </a:prstGeom>
        </p:spPr>
      </p:pic>
      <p:sp>
        <p:nvSpPr>
          <p:cNvPr id="64" name="Text 17">
            <a:extLst>
              <a:ext uri="{FF2B5EF4-FFF2-40B4-BE49-F238E27FC236}">
                <a16:creationId xmlns:a16="http://schemas.microsoft.com/office/drawing/2014/main" id="{35F19A0F-85C6-7E49-6190-4BB498253E5E}"/>
              </a:ext>
            </a:extLst>
          </p:cNvPr>
          <p:cNvSpPr txBox="1"/>
          <p:nvPr/>
        </p:nvSpPr>
        <p:spPr>
          <a:xfrm>
            <a:off x="1627632" y="39776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&amp; selective reads</a:t>
            </a:r>
            <a:endParaRPr lang="en-US" sz="1400" dirty="0"/>
          </a:p>
        </p:txBody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3987C411-46DD-4FEB-895B-5B15916EA388}"/>
              </a:ext>
            </a:extLst>
          </p:cNvPr>
          <p:cNvSpPr txBox="1"/>
          <p:nvPr/>
        </p:nvSpPr>
        <p:spPr>
          <a:xfrm>
            <a:off x="1627632" y="429768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only the columns and row groups a query needs; row-oriented formats (Shapefile, GeoJSON, GeoPackage) read far more.</a:t>
            </a:r>
            <a:endParaRPr lang="en-US" sz="1100" dirty="0"/>
          </a:p>
        </p:txBody>
      </p:sp>
      <p:sp>
        <p:nvSpPr>
          <p:cNvPr id="68" name="Shape 19">
            <a:extLst>
              <a:ext uri="{FF2B5EF4-FFF2-40B4-BE49-F238E27FC236}">
                <a16:creationId xmlns:a16="http://schemas.microsoft.com/office/drawing/2014/main" id="{B84D49FA-962A-0F7F-15AE-9A6A706BACD5}"/>
              </a:ext>
            </a:extLst>
          </p:cNvPr>
          <p:cNvSpPr/>
          <p:nvPr/>
        </p:nvSpPr>
        <p:spPr>
          <a:xfrm>
            <a:off x="6172200" y="3840480"/>
            <a:ext cx="53492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20">
            <a:extLst>
              <a:ext uri="{FF2B5EF4-FFF2-40B4-BE49-F238E27FC236}">
                <a16:creationId xmlns:a16="http://schemas.microsoft.com/office/drawing/2014/main" id="{B9388070-12E6-041F-1C13-1D1CD47F6424}"/>
              </a:ext>
            </a:extLst>
          </p:cNvPr>
          <p:cNvSpPr/>
          <p:nvPr/>
        </p:nvSpPr>
        <p:spPr>
          <a:xfrm>
            <a:off x="6428232" y="4114800"/>
            <a:ext cx="566928" cy="566928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2" name="Image 1" descr="ic_compress_blue.png">
            <a:extLst>
              <a:ext uri="{FF2B5EF4-FFF2-40B4-BE49-F238E27FC236}">
                <a16:creationId xmlns:a16="http://schemas.microsoft.com/office/drawing/2014/main" id="{B4C70AC1-5542-343B-1082-672AD9B58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295" y="4250863"/>
            <a:ext cx="294803" cy="294803"/>
          </a:xfrm>
          <a:prstGeom prst="rect">
            <a:avLst/>
          </a:prstGeom>
        </p:spPr>
      </p:pic>
      <p:sp>
        <p:nvSpPr>
          <p:cNvPr id="74" name="Text 21">
            <a:extLst>
              <a:ext uri="{FF2B5EF4-FFF2-40B4-BE49-F238E27FC236}">
                <a16:creationId xmlns:a16="http://schemas.microsoft.com/office/drawing/2014/main" id="{70CE1F86-64E3-9461-8A7B-FAF436BC1A4D}"/>
              </a:ext>
            </a:extLst>
          </p:cNvPr>
          <p:cNvSpPr txBox="1"/>
          <p:nvPr/>
        </p:nvSpPr>
        <p:spPr>
          <a:xfrm>
            <a:off x="7159752" y="39776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compression</a:t>
            </a:r>
            <a:endParaRPr lang="en-US" sz="140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BA53D359-F695-6B35-5DF3-8EA03F8F9374}"/>
              </a:ext>
            </a:extLst>
          </p:cNvPr>
          <p:cNvSpPr txBox="1"/>
          <p:nvPr/>
        </p:nvSpPr>
        <p:spPr>
          <a:xfrm>
            <a:off x="7159752" y="429768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compression makes files dramatically smaller than text-based GeoJSON or legacy Shapefile.</a:t>
            </a:r>
            <a:endParaRPr lang="en-US" sz="1100" dirty="0"/>
          </a:p>
        </p:txBody>
      </p:sp>
      <p:sp>
        <p:nvSpPr>
          <p:cNvPr id="78" name="Shape 23">
            <a:extLst>
              <a:ext uri="{FF2B5EF4-FFF2-40B4-BE49-F238E27FC236}">
                <a16:creationId xmlns:a16="http://schemas.microsoft.com/office/drawing/2014/main" id="{EE56BE89-CA2A-405E-D361-8AE885B93199}"/>
              </a:ext>
            </a:extLst>
          </p:cNvPr>
          <p:cNvSpPr/>
          <p:nvPr/>
        </p:nvSpPr>
        <p:spPr>
          <a:xfrm>
            <a:off x="640080" y="5047488"/>
            <a:ext cx="53492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Shape 24">
            <a:extLst>
              <a:ext uri="{FF2B5EF4-FFF2-40B4-BE49-F238E27FC236}">
                <a16:creationId xmlns:a16="http://schemas.microsoft.com/office/drawing/2014/main" id="{99EA2B01-3458-D244-A7DE-60D9365AC160}"/>
              </a:ext>
            </a:extLst>
          </p:cNvPr>
          <p:cNvSpPr/>
          <p:nvPr/>
        </p:nvSpPr>
        <p:spPr>
          <a:xfrm>
            <a:off x="896112" y="5321808"/>
            <a:ext cx="566928" cy="566928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2" name="Image 2" descr="ic_cloud_blue.png">
            <a:extLst>
              <a:ext uri="{FF2B5EF4-FFF2-40B4-BE49-F238E27FC236}">
                <a16:creationId xmlns:a16="http://schemas.microsoft.com/office/drawing/2014/main" id="{69A64489-58AF-C201-62C9-5B4A8431A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175" y="5457871"/>
            <a:ext cx="294803" cy="294803"/>
          </a:xfrm>
          <a:prstGeom prst="rect">
            <a:avLst/>
          </a:prstGeom>
        </p:spPr>
      </p:pic>
      <p:sp>
        <p:nvSpPr>
          <p:cNvPr id="84" name="Text 25">
            <a:extLst>
              <a:ext uri="{FF2B5EF4-FFF2-40B4-BE49-F238E27FC236}">
                <a16:creationId xmlns:a16="http://schemas.microsoft.com/office/drawing/2014/main" id="{DF6A9D84-8F28-3A7C-D4BB-3444BFB63C6E}"/>
              </a:ext>
            </a:extLst>
          </p:cNvPr>
          <p:cNvSpPr txBox="1"/>
          <p:nvPr/>
        </p:nvSpPr>
        <p:spPr>
          <a:xfrm>
            <a:off x="1627632" y="51846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access</a:t>
            </a:r>
            <a:endParaRPr lang="en-US" sz="1400" dirty="0"/>
          </a:p>
        </p:txBody>
      </p:sp>
      <p:sp>
        <p:nvSpPr>
          <p:cNvPr id="86" name="Text 26">
            <a:extLst>
              <a:ext uri="{FF2B5EF4-FFF2-40B4-BE49-F238E27FC236}">
                <a16:creationId xmlns:a16="http://schemas.microsoft.com/office/drawing/2014/main" id="{92BEC8E2-BE7C-2A0F-117B-BB717BA35731}"/>
              </a:ext>
            </a:extLst>
          </p:cNvPr>
          <p:cNvSpPr txBox="1"/>
          <p:nvPr/>
        </p:nvSpPr>
        <p:spPr>
          <a:xfrm>
            <a:off x="1627632" y="550468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directly over HTTP or object storage with range reads — no need to download the whole dataset first.</a:t>
            </a:r>
            <a:endParaRPr lang="en-US" sz="1100" dirty="0"/>
          </a:p>
        </p:txBody>
      </p:sp>
      <p:sp>
        <p:nvSpPr>
          <p:cNvPr id="88" name="Shape 27">
            <a:extLst>
              <a:ext uri="{FF2B5EF4-FFF2-40B4-BE49-F238E27FC236}">
                <a16:creationId xmlns:a16="http://schemas.microsoft.com/office/drawing/2014/main" id="{85D7ECE9-E466-737A-838E-DF64629ADBDC}"/>
              </a:ext>
            </a:extLst>
          </p:cNvPr>
          <p:cNvSpPr/>
          <p:nvPr/>
        </p:nvSpPr>
        <p:spPr>
          <a:xfrm>
            <a:off x="6172200" y="5047488"/>
            <a:ext cx="53492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Shape 28">
            <a:extLst>
              <a:ext uri="{FF2B5EF4-FFF2-40B4-BE49-F238E27FC236}">
                <a16:creationId xmlns:a16="http://schemas.microsoft.com/office/drawing/2014/main" id="{6BE5A78D-A5C6-9766-080D-B8E465D8480B}"/>
              </a:ext>
            </a:extLst>
          </p:cNvPr>
          <p:cNvSpPr/>
          <p:nvPr/>
        </p:nvSpPr>
        <p:spPr>
          <a:xfrm>
            <a:off x="6428232" y="5321808"/>
            <a:ext cx="566928" cy="566928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2" name="Image 3" descr="ic_chartline_blue.png">
            <a:extLst>
              <a:ext uri="{FF2B5EF4-FFF2-40B4-BE49-F238E27FC236}">
                <a16:creationId xmlns:a16="http://schemas.microsoft.com/office/drawing/2014/main" id="{5E1078E0-72E4-8240-F94E-6E0CBC5864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4295" y="5457871"/>
            <a:ext cx="294803" cy="294803"/>
          </a:xfrm>
          <a:prstGeom prst="rect">
            <a:avLst/>
          </a:prstGeom>
        </p:spPr>
      </p:pic>
      <p:sp>
        <p:nvSpPr>
          <p:cNvPr id="94" name="Text 29">
            <a:extLst>
              <a:ext uri="{FF2B5EF4-FFF2-40B4-BE49-F238E27FC236}">
                <a16:creationId xmlns:a16="http://schemas.microsoft.com/office/drawing/2014/main" id="{6411477B-FBF3-092E-14FF-39DE2C7DCA2A}"/>
              </a:ext>
            </a:extLst>
          </p:cNvPr>
          <p:cNvSpPr txBox="1"/>
          <p:nvPr/>
        </p:nvSpPr>
        <p:spPr>
          <a:xfrm>
            <a:off x="7159752" y="51846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Analytics-native</a:t>
            </a:r>
            <a:endParaRPr lang="en-US" sz="1400" dirty="0"/>
          </a:p>
        </p:txBody>
      </p:sp>
      <p:sp>
        <p:nvSpPr>
          <p:cNvPr id="96" name="Text 30">
            <a:extLst>
              <a:ext uri="{FF2B5EF4-FFF2-40B4-BE49-F238E27FC236}">
                <a16:creationId xmlns:a16="http://schemas.microsoft.com/office/drawing/2014/main" id="{D58D291A-D08C-5B1E-17AA-B37642B61D2D}"/>
              </a:ext>
            </a:extLst>
          </p:cNvPr>
          <p:cNvSpPr txBox="1"/>
          <p:nvPr/>
        </p:nvSpPr>
        <p:spPr>
          <a:xfrm>
            <a:off x="7159752" y="550468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in Arrow, GeoPandas, DuckDB, Spark, and data lakes — not confined to dedicated GIS software.</a:t>
            </a:r>
            <a:endParaRPr lang="en-US" sz="1100" dirty="0"/>
          </a:p>
        </p:txBody>
      </p:sp>
      <p:sp>
        <p:nvSpPr>
          <p:cNvPr id="98" name="Text 31">
            <a:extLst>
              <a:ext uri="{FF2B5EF4-FFF2-40B4-BE49-F238E27FC236}">
                <a16:creationId xmlns:a16="http://schemas.microsoft.com/office/drawing/2014/main" id="{3C5350A1-B943-C553-68AC-9ADA91E97E91}"/>
              </a:ext>
            </a:extLst>
          </p:cNvPr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80467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Geospatial incorporated into Parquet type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early 2026, the Apache Parquet format itself adopted native GEOMETRY and GEOGRAPHY logical types. Geospatial is no longer layered on — it's built into the format.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3502152" cy="2286000"/>
          </a:xfrm>
          <a:prstGeom prst="roundRect">
            <a:avLst>
              <a:gd name="adj" fmla="val 3600"/>
            </a:avLst>
          </a:prstGeom>
          <a:solidFill>
            <a:srgbClr val="2C3468"/>
          </a:solidFill>
          <a:ln w="12700">
            <a:solidFill>
              <a:srgbClr val="3E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3401568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_glob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3566160"/>
            <a:ext cx="356616" cy="3566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6451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Planar (flat-Earth) coordinates with a spatial reference system.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3108960"/>
            <a:ext cx="3502152" cy="2286000"/>
          </a:xfrm>
          <a:prstGeom prst="roundRect">
            <a:avLst>
              <a:gd name="adj" fmla="val 3600"/>
            </a:avLst>
          </a:prstGeom>
          <a:solidFill>
            <a:srgbClr val="2C3468"/>
          </a:solidFill>
          <a:ln w="12700">
            <a:solidFill>
              <a:srgbClr val="3E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3401568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_ma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566160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46451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on a spherical/ellipsoidal Earth — lon/lat in degrees.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3108960"/>
            <a:ext cx="3502152" cy="2286000"/>
          </a:xfrm>
          <a:prstGeom prst="roundRect">
            <a:avLst>
              <a:gd name="adj" fmla="val 3600"/>
            </a:avLst>
          </a:prstGeom>
          <a:solidFill>
            <a:srgbClr val="2C3468"/>
          </a:solidFill>
          <a:ln w="12700">
            <a:solidFill>
              <a:srgbClr val="3E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66760" y="3401568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ic_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3566160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statistics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46451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Per–row-group bounding boxes enable spatial pruning like min/max do for numbers.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types landed in Parquet 2.11 (March 2025) and shipped in the core C++/Java readers; Apache Iceberg v3 adopted matching geometry/geography types in the same wave.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NATIVE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GeoParquet 2.0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 re-centers the spec on Parquet's native geospatial types. The metadata GeoParquet is known for becomes an optional, more-explicit layer on top.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0" cy="777240"/>
          </a:xfrm>
          <a:prstGeom prst="line">
            <a:avLst/>
          </a:prstGeom>
          <a:noFill/>
          <a:ln w="25400">
            <a:solidFill>
              <a:srgbClr val="D3DEE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371600" y="27614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GeoParquet 1.0 / 1.1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1272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WKB geometry + sidecar metadata; optional GeoArrow encoding and a bbox "covering" column for fast filtering.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0233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858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995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GeoParquet 2.0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36168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Parquet GEOMETRY/GEOGRAPHY are the storage. Drops the bbox column (built-in stats do the job) and the GeoArrow encoding.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39496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EA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5596128"/>
            <a:ext cx="548640" cy="548640"/>
          </a:xfrm>
          <a:prstGeom prst="ellipse">
            <a:avLst/>
          </a:prstGeom>
          <a:solidFill>
            <a:srgbClr val="1132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ic_check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5727802"/>
            <a:ext cx="285293" cy="28529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600200" y="550468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goal:  </a:t>
            </a: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tool that writes Parquet's native geospatial types correctly is compatible with GeoParquet 2.0. Teams are advised to keep using 1.1 in production until tooling fully catches up. (v2.0.0 is a release candidate, pending OGC approval.)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· ARCGIS ONLINE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Parquet feature layers arrive in Esri (Beta)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Esri's June 2026 ArcGIS Online release introduced </a:t>
            </a:r>
            <a:r>
              <a:rPr lang="en-US" sz="16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feature layers (Beta)</a:t>
            </a:r>
            <a:r>
              <a:rPr lang="en-US" sz="16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new layer type for fast, scalable, read-only mapping, built on the open GeoParquet format and created with ArcGIS Data Pipelines.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_map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68686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3584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scalable visualization of very large datasets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4279392"/>
            <a:ext cx="502920" cy="502920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_arrow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4400093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98448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querying and filtering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4992624"/>
            <a:ext cx="502920" cy="502920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ic_layers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1" y="5113325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98448" y="5010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Interoperable — still readable as standard Parquet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446520" y="1783080"/>
            <a:ext cx="507492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 txBox="1"/>
          <p:nvPr/>
        </p:nvSpPr>
        <p:spPr>
          <a:xfrm>
            <a:off x="67665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Esri's spatial optimization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766560" y="2514600"/>
            <a:ext cx="640080" cy="640080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ic_arrow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179" y="266821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543800" y="24963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Geographically adjacent storage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7543800" y="29718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features are stored together, so spatial queries skip the rest of the dataset.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766560" y="4297680"/>
            <a:ext cx="640080" cy="640080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ic_layers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0179" y="445129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543800" y="42793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geometry</a:t>
            </a:r>
            <a:endParaRPr lang="en-US" sz="1450" dirty="0"/>
          </a:p>
        </p:txBody>
      </p:sp>
      <p:sp>
        <p:nvSpPr>
          <p:cNvPr id="23" name="Text 16"/>
          <p:cNvSpPr txBox="1"/>
          <p:nvPr/>
        </p:nvSpPr>
        <p:spPr>
          <a:xfrm>
            <a:off x="7543800" y="4754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generalized geometries per feature — simplified when zoomed out, detailed up close.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6766560" y="574243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enhancements are additive metadata — non-Esri clients still read the files as ordinary Parquet.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THEM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79" y="804672"/>
            <a:ext cx="112315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Working with Parquet features in ArcGIS Online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they're made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2688" y="2743200"/>
            <a:ext cx="0" cy="566928"/>
          </a:xfrm>
          <a:prstGeom prst="line">
            <a:avLst/>
          </a:prstGeom>
          <a:noFill/>
          <a:ln w="25400">
            <a:solidFill>
              <a:srgbClr val="D3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417320" y="22219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3288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incl. S3, Azure, Snowflake, Databricks, BigQuery, URLs/APIs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31012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858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3813048"/>
            <a:ext cx="0" cy="566928"/>
          </a:xfrm>
          <a:prstGeom prst="line">
            <a:avLst/>
          </a:prstGeom>
          <a:noFill/>
          <a:ln w="25400">
            <a:solidFill>
              <a:srgbClr val="D3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417320" y="3291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60273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 in the no-code ArcGIS Data Pipelines editor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37997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5800" y="4379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3616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67258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out to a Parquet feature layer; schedule overwrites to update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178308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4F7F9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</a:t>
            </a:r>
            <a:endParaRPr lang="en-US" sz="1600" dirty="0"/>
          </a:p>
        </p:txBody>
      </p:sp>
      <p:pic>
        <p:nvPicPr>
          <p:cNvPr id="21" name="Image 0" descr="ic_check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487168"/>
            <a:ext cx="256032" cy="25603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858000" y="2423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operational or reference data</a:t>
            </a:r>
            <a:endParaRPr lang="en-US" sz="1300" dirty="0"/>
          </a:p>
        </p:txBody>
      </p:sp>
      <p:pic>
        <p:nvPicPr>
          <p:cNvPr id="23" name="Image 1" descr="ic_check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916936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858000" y="28529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datasets (millions of records)</a:t>
            </a:r>
            <a:endParaRPr lang="en-US" sz="1300" dirty="0"/>
          </a:p>
        </p:txBody>
      </p:sp>
      <p:pic>
        <p:nvPicPr>
          <p:cNvPr id="25" name="Image 2" descr="ic_check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346704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858000" y="32826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geographic coverage</a:t>
            </a:r>
            <a:endParaRPr lang="en-US" sz="1300" dirty="0"/>
          </a:p>
        </p:txBody>
      </p:sp>
      <p:pic>
        <p:nvPicPr>
          <p:cNvPr id="27" name="Image 3" descr="ic_check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776472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858000" y="37124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complex geometries</a:t>
            </a:r>
            <a:endParaRPr lang="en-US" sz="1300" dirty="0"/>
          </a:p>
        </p:txBody>
      </p:sp>
      <p:pic>
        <p:nvPicPr>
          <p:cNvPr id="29" name="Image 4" descr="ic_check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206240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858000" y="4142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low-variance query latency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6492240" y="46723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beta limits</a:t>
            </a:r>
            <a:endParaRPr lang="en-US" sz="1600" dirty="0"/>
          </a:p>
        </p:txBody>
      </p:sp>
      <p:pic>
        <p:nvPicPr>
          <p:cNvPr id="32" name="Image 5" descr="ic_xmark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147872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858000" y="50838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no offline · no editing</a:t>
            </a:r>
            <a:endParaRPr lang="en-US" sz="1200" dirty="0"/>
          </a:p>
        </p:txBody>
      </p:sp>
      <p:pic>
        <p:nvPicPr>
          <p:cNvPr id="34" name="Image 6" descr="ic_xmark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513632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858000" y="54496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 1984 only; no z/m-values</a:t>
            </a:r>
            <a:endParaRPr lang="en-US" sz="1200" dirty="0"/>
          </a:p>
        </p:txBody>
      </p:sp>
      <p:pic>
        <p:nvPicPr>
          <p:cNvPr id="36" name="Image 7" descr="ic_xmark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879392"/>
            <a:ext cx="237744" cy="237744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858000" y="58153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Web-only (JS SDK 5.1+); not in Pro/Enterprise yet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ESRI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broad, converging ecosystem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_gear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233062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2128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GDAL / OGR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8803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&amp; writes Parquet geo types as of v3.12 — the backbone many tools build 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92024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7720" y="2194560"/>
            <a:ext cx="566928" cy="566928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_map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783" y="233062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22128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8803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GeoParquet as a first-class format for desktop GIS.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92024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21040" y="2194560"/>
            <a:ext cx="566928" cy="566928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_terminal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103" y="233062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22128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8803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SQL analytics over GeoParquet, local or in the cloud.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14400" y="4343400"/>
            <a:ext cx="566928" cy="566928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_databas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463" y="447946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361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/ lakehouses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914400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v3 native geo types; Delta inherits as Parquet adds support.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43400" y="406908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17720" y="4343400"/>
            <a:ext cx="566928" cy="566928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ic_code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3783" y="447946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03520" y="4361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 &amp; PyArrow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read/write for analysis and pipelines.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46720" y="406908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21040" y="4343400"/>
            <a:ext cx="566928" cy="566928"/>
          </a:xfrm>
          <a:prstGeom prst="ellipse">
            <a:avLst/>
          </a:prstGeom>
          <a:solidFill>
            <a:srgbClr val="E1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ic_terminal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103" y="4479463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06840" y="4361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geoparquet-io (gpio)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2026 CLI + Python API to convert, validate &amp; optimize files.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WISELY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GeoParquet isn't always the answer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reasonable choices for vector data on disk — each right in different situations.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502152" cy="2286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60120" y="23774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GeoParquet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&amp; CLOUD WORKLOADS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9776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datasets, columnar scans, cloud range-reads, data science pipelines.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237744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43400" y="237744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43400" y="2926080"/>
            <a:ext cx="3502152" cy="2286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663440" y="23774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GeoPackage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&amp; CARTOGRAPHY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9776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Row-oriented with SQL indexing — better for editing and map production.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237744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4EBEF"/>
            </a:solidFill>
            <a:prstDash val="solid"/>
          </a:ln>
          <a:effectLst>
            <a:outerShdw blurRad="76200" dist="25400" dir="5400000" algn="bl" rotWithShape="0">
              <a:srgbClr val="BEC9D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237744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5A6B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46720" y="2926080"/>
            <a:ext cx="3502152" cy="228600"/>
          </a:xfrm>
          <a:prstGeom prst="rect">
            <a:avLst/>
          </a:prstGeom>
          <a:solidFill>
            <a:srgbClr val="5A6B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366760" y="23774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Shapefile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COMPATIBILITY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39776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 consumer reads nothing else — export and warn about limits.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workflows have migrated to GeoParquet; editing &amp; cartographic workflows still favor GeoPackage.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Takeaways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2624328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_column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899" y="2777947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26243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by design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31089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Parquet's speed, compression, and cloud-friendliness now underpin geospatial data too.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233172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29400" y="2624328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_glob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019" y="277794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26243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built in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452360" y="31089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&amp; Iceberg gained first-class GEOMETRY/GEOGRAPHY types; GeoParquet 2.0 builds on them.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20624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097280" y="4498848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_ma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0899" y="4652467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20240" y="44988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Esri is on board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920240" y="49834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Online's Parquet feature layers (Beta) bring GeoParquet into mainstream Web GIS.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420624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629400" y="4498848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_sitemap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3019" y="4652467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52360" y="44988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Interoperable future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452360" y="49834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columnar format across QGIS, DuckDB, GDAL, lakehouses, and Esri.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Esri ArcGIS Blog (Jun 2026) · OGC GeoParquet 2.0 · Apache Parquet · Cloud-Native Geospatial Forum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1788</Words>
  <Application>Microsoft Office PowerPoint</Application>
  <PresentationFormat>Widescreen</PresentationFormat>
  <Paragraphs>187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Parquet &amp; GeoParquet: An Introduction</dc:title>
  <dc:subject>PptxGenJS Presentation</dc:subject>
  <dc:creator>Prepared for Marc</dc:creator>
  <cp:lastModifiedBy>Weber, Marc</cp:lastModifiedBy>
  <cp:revision>4</cp:revision>
  <dcterms:created xsi:type="dcterms:W3CDTF">2026-09-04T18:24:42Z</dcterms:created>
  <dcterms:modified xsi:type="dcterms:W3CDTF">2026-09-10T15:01:58Z</dcterms:modified>
</cp:coreProperties>
</file>